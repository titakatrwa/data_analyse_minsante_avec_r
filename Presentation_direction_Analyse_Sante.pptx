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mtClean="0"/>
              <a:t>Objectif : obtenir l’accord de la direction sur trois priorités et une gouvernance de suivi à 90 jours.</a:t>
            </a:r>
          </a:p>
          <a:p>
            <a:endParaRPr lang="fr-FR" smtClean="0"/>
          </a:p>
          <a:p>
            <a:r>
              <a:rPr lang="fr-FR" smtClean="0"/>
              <a:t>[Sources]</a:t>
            </a:r>
          </a:p>
          <a:p>
            <a:r>
              <a:rPr lang="fr-FR" smtClean="0"/>
              <a:t>- C:\Users\Gorkus\Documents\Codex\Projet_R\outputs\kpi_globaux.csv</a:t>
            </a:r>
          </a:p>
          <a:p>
            <a:r>
              <a:rPr lang="fr-FR" smtClean="0"/>
              <a:t>- C:\Users\Gorkus\Documents\Codex\Projet_R\README.md</a:t>
            </a:r>
          </a:p>
          <a:p>
            <a:r>
              <a:rPr lang="fr-FR" smtClean="0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mtClean="0"/>
              <a:t>Mettre l’accent sur les deux premiers indicateurs : ruptures et non-assurance.</a:t>
            </a:r>
          </a:p>
          <a:p>
            <a:endParaRPr lang="fr-FR" smtClean="0"/>
          </a:p>
          <a:p>
            <a:r>
              <a:rPr lang="fr-FR" smtClean="0"/>
              <a:t>[Sources]</a:t>
            </a:r>
          </a:p>
          <a:p>
            <a:r>
              <a:rPr lang="fr-FR" smtClean="0"/>
              <a:t>- C:\Users\Gorkus\Documents\Codex\Projet_R\outputs\kpi_globaux.csv</a:t>
            </a:r>
          </a:p>
          <a:p>
            <a:r>
              <a:rPr lang="fr-FR" smtClean="0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mtClean="0"/>
              <a:t>Le mois de janvier est le plus chargé ; février est le plus faible.</a:t>
            </a:r>
          </a:p>
          <a:p>
            <a:endParaRPr lang="fr-FR" smtClean="0"/>
          </a:p>
          <a:p>
            <a:r>
              <a:rPr lang="fr-FR" smtClean="0"/>
              <a:t>[Sources]</a:t>
            </a:r>
          </a:p>
          <a:p>
            <a:r>
              <a:rPr lang="fr-FR" smtClean="0"/>
              <a:t>- C:\Users\Gorkus\Documents\Codex\Projet_R\outputs\consultations_mensuelles.csv</a:t>
            </a:r>
          </a:p>
          <a:p>
            <a:r>
              <a:rPr lang="fr-FR" smtClean="0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mtClean="0"/>
              <a:t>La ligne pointillée indique la moyenne nationale de 18,0 %.</a:t>
            </a:r>
          </a:p>
          <a:p>
            <a:endParaRPr lang="fr-FR" smtClean="0"/>
          </a:p>
          <a:p>
            <a:r>
              <a:rPr lang="fr-FR" smtClean="0"/>
              <a:t>[Sources]</a:t>
            </a:r>
          </a:p>
          <a:p>
            <a:r>
              <a:rPr lang="fr-FR" smtClean="0"/>
              <a:t>- C:\Users\Gorkus\Documents\Codex\Projet_R\outputs\regions.csv</a:t>
            </a:r>
          </a:p>
          <a:p>
            <a:r>
              <a:rPr lang="fr-FR" smtClean="0"/>
              <a:t>- C:\Users\Gorkus\Documents\Codex\Projet_R\outputs\kpi_globaux.csv</a:t>
            </a:r>
          </a:p>
          <a:p>
            <a:r>
              <a:rPr lang="fr-FR" smtClean="0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mtClean="0"/>
              <a:t>Les principaux diagnostics sont proches en volume ; éviter de surinterpréter l’écart.</a:t>
            </a:r>
          </a:p>
          <a:p>
            <a:endParaRPr lang="fr-FR" smtClean="0"/>
          </a:p>
          <a:p>
            <a:r>
              <a:rPr lang="fr-FR" smtClean="0"/>
              <a:t>[Sources]</a:t>
            </a:r>
          </a:p>
          <a:p>
            <a:r>
              <a:rPr lang="fr-FR" smtClean="0"/>
              <a:t>- C:\Users\Gorkus\Documents\Codex\Projet_R\outputs\diagnostics.csv</a:t>
            </a:r>
          </a:p>
          <a:p>
            <a:r>
              <a:rPr lang="fr-FR" smtClean="0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mtClean="0"/>
              <a:t>Demander un accord explicite sur les priorités et sur les pilotes.</a:t>
            </a:r>
          </a:p>
          <a:p>
            <a:endParaRPr lang="fr-FR" smtClean="0"/>
          </a:p>
          <a:p>
            <a:r>
              <a:rPr lang="fr-FR" smtClean="0"/>
              <a:t>[Sources]</a:t>
            </a:r>
          </a:p>
          <a:p>
            <a:r>
              <a:rPr lang="fr-FR" smtClean="0"/>
              <a:t>- C:\Users\Gorkus\Documents\Codex\Projet_R\README.md</a:t>
            </a:r>
          </a:p>
          <a:p>
            <a:r>
              <a:rPr lang="fr-FR" smtClean="0"/>
              <a:t>- C:\Users\Gorkus\Documents\Codex\Projet_R\outputs\audit_qualite.csv</a:t>
            </a:r>
          </a:p>
          <a:p>
            <a:r>
              <a:rPr lang="fr-FR" smtClean="0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Clore sur les trois décisions : priorités, pilotes, revue à 90 jours.</a:t>
            </a:r>
          </a:p>
          <a:p>
            <a:endParaRPr lang="en-US" smtClean="0"/>
          </a:p>
          <a:p>
            <a:r>
              <a:rPr lang="en-US" smtClean="0"/>
              <a:t>[Sources]</a:t>
            </a:r>
          </a:p>
          <a:p>
            <a:r>
              <a:rPr lang="en-US" smtClean="0"/>
              <a:t>- C:\Users\Gorkus\Documents\Codex\Projet_R\README.md</a:t>
            </a:r>
          </a:p>
          <a:p>
            <a:r>
              <a:rPr lang="en-US" smtClean="0"/>
              <a:t>- C:\Users\Gorkus\Documents\Codex\Projet_R\outputs\kpi_globaux.csv</a:t>
            </a:r>
          </a:p>
          <a:p>
            <a:r>
              <a:rPr lang="en-US" smtClean="0"/>
              <a:t>- C:\Users\Gorkus\Documents\Codex\Projet_R\outputs\regions.csv</a:t>
            </a:r>
          </a:p>
          <a:p>
            <a:r>
              <a:rPr lang="en-US" smtClean="0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AE3BE3-B1DF-413A-AA4D-FFA279293665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lang="fr-FR" sz="1200" b="1" dirty="0" smtClean="0">
                <a:solidFill>
                  <a:srgbClr val="007C91"/>
                </a:solidFill>
                <a:latin typeface="Arial"/>
                <a:ea typeface="Arial"/>
                <a:cs typeface="Arial"/>
              </a:rPr>
              <a:t>DATA </a:t>
            </a:r>
            <a:r>
              <a:rPr sz="1200" b="1" dirty="0" smtClean="0">
                <a:solidFill>
                  <a:srgbClr val="007C91"/>
                </a:solidFill>
                <a:latin typeface="Arial"/>
                <a:ea typeface="Arial"/>
                <a:cs typeface="Arial"/>
              </a:rPr>
              <a:t>SANTE | </a:t>
            </a:r>
            <a:r>
              <a:rPr sz="1200" b="1" dirty="0">
                <a:solidFill>
                  <a:srgbClr val="007C91"/>
                </a:solidFill>
                <a:latin typeface="Arial"/>
                <a:ea typeface="Arial"/>
                <a:cs typeface="Arial"/>
              </a:rPr>
              <a:t>COMITE DE DIRECTION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935678-0807-4BB0-A5B5-20FE8F5F455D}"/>
              </a:ext>
            </a:extLst>
          </p:cNvPr>
          <p:cNvSpPr>
            <a:spLocks noGrp="1"/>
          </p:cNvSpPr>
          <p:nvPr/>
        </p:nvSpPr>
        <p:spPr>
          <a:xfrm>
            <a:off x="400050" y="1718604"/>
            <a:ext cx="9525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46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Des données aux priorités</a:t>
            </a:r>
          </a:p>
          <a:p>
            <a:pPr algn="l">
              <a:defRPr sz="46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d’action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40161-77E4-48E0-96BD-A0A6406D4AD1}"/>
              </a:ext>
            </a:extLst>
          </p:cNvPr>
          <p:cNvSpPr>
            <a:spLocks noGrp="1"/>
          </p:cNvSpPr>
          <p:nvPr/>
        </p:nvSpPr>
        <p:spPr>
          <a:xfrm>
            <a:off x="400050" y="4667250"/>
            <a:ext cx="7905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Analyse des consultations 2025 • Résultats, risques et feuille de route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697D8-D5D3-4D14-9FF9-A20E093E6375}"/>
              </a:ext>
            </a:extLst>
          </p:cNvPr>
          <p:cNvSpPr>
            <a:spLocks noGrp="1"/>
          </p:cNvSpPr>
          <p:nvPr/>
        </p:nvSpPr>
        <p:spPr>
          <a:xfrm>
            <a:off x="400050" y="5772150"/>
            <a:ext cx="2857500" cy="76200"/>
          </a:xfrm>
          <a:prstGeom prst="rect">
            <a:avLst/>
          </a:prstGeom>
          <a:solidFill>
            <a:srgbClr val="E16B4B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155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886D299-B919-4049-B95B-6802A00C5A3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Trois signaux doivent guider la décision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A412C-3D24-4690-838C-0CB7DC014553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D0D772-ECF8-463C-ABB9-E7CF1241D9F8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11144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L’activité est stable, mais la disponibilité des médicaments et l’accès financier appellent une action ciblée.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45C159-0CA6-4997-BA23-765BA083002D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3562350" cy="3048000"/>
          </a:xfrm>
          <a:prstGeom prst="roundRect">
            <a:avLst>
              <a:gd name="adj" fmla="val 2500"/>
            </a:avLst>
          </a:prstGeom>
          <a:solidFill>
            <a:srgbClr val="F5F8F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462E7-C161-4FED-A625-5FEE15479264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3562350" cy="95250"/>
          </a:xfrm>
          <a:prstGeom prst="rect">
            <a:avLst/>
          </a:prstGeom>
          <a:solidFill>
            <a:srgbClr val="D7A431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FE2DAD-C00F-4D63-862C-1D6846024397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2952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18,0 %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BD11E-095B-47A4-8207-2DE06F99296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ruptures de médicaments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591E08-D92F-49E0-AFFD-AE85BEE68AA3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Priorité opérationnelle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13AADB-4557-4D46-86D2-01AAF051391A}"/>
              </a:ext>
            </a:extLst>
          </p:cNvPr>
          <p:cNvSpPr>
            <a:spLocks noGrp="1"/>
          </p:cNvSpPr>
          <p:nvPr/>
        </p:nvSpPr>
        <p:spPr>
          <a:xfrm>
            <a:off x="4314825" y="2476500"/>
            <a:ext cx="3562350" cy="3048000"/>
          </a:xfrm>
          <a:prstGeom prst="roundRect">
            <a:avLst>
              <a:gd name="adj" fmla="val 2500"/>
            </a:avLst>
          </a:prstGeom>
          <a:solidFill>
            <a:srgbClr val="F5F8F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68BAC-E4F8-42E0-834C-39E2F88ED95E}"/>
              </a:ext>
            </a:extLst>
          </p:cNvPr>
          <p:cNvSpPr>
            <a:spLocks noGrp="1"/>
          </p:cNvSpPr>
          <p:nvPr/>
        </p:nvSpPr>
        <p:spPr>
          <a:xfrm>
            <a:off x="4314825" y="2476500"/>
            <a:ext cx="3562350" cy="95250"/>
          </a:xfrm>
          <a:prstGeom prst="rect">
            <a:avLst/>
          </a:prstGeom>
          <a:solidFill>
            <a:srgbClr val="E16B4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8843D5-27ED-4C88-ADBE-7D91CBE5BB86}"/>
              </a:ext>
            </a:extLst>
          </p:cNvPr>
          <p:cNvSpPr>
            <a:spLocks noGrp="1"/>
          </p:cNvSpPr>
          <p:nvPr/>
        </p:nvSpPr>
        <p:spPr>
          <a:xfrm>
            <a:off x="4600575" y="3000375"/>
            <a:ext cx="2952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64,8 %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47A1D-6E59-4720-BFAF-C76C3BDC5BC3}"/>
              </a:ext>
            </a:extLst>
          </p:cNvPr>
          <p:cNvSpPr>
            <a:spLocks noGrp="1"/>
          </p:cNvSpPr>
          <p:nvPr/>
        </p:nvSpPr>
        <p:spPr>
          <a:xfrm>
            <a:off x="4600575" y="3943350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patients non assurés*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F47DD8-17CB-474F-8ED8-1E30ECBF6CD6}"/>
              </a:ext>
            </a:extLst>
          </p:cNvPr>
          <p:cNvSpPr>
            <a:spLocks noGrp="1"/>
          </p:cNvSpPr>
          <p:nvPr/>
        </p:nvSpPr>
        <p:spPr>
          <a:xfrm>
            <a:off x="4600575" y="4695825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Vulnérabilité financière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DEC831-1DB9-429C-8A12-E628A8D7A37E}"/>
              </a:ext>
            </a:extLst>
          </p:cNvPr>
          <p:cNvSpPr>
            <a:spLocks noGrp="1"/>
          </p:cNvSpPr>
          <p:nvPr/>
        </p:nvSpPr>
        <p:spPr>
          <a:xfrm>
            <a:off x="8229600" y="2476500"/>
            <a:ext cx="3562350" cy="3048000"/>
          </a:xfrm>
          <a:prstGeom prst="roundRect">
            <a:avLst>
              <a:gd name="adj" fmla="val 2500"/>
            </a:avLst>
          </a:prstGeom>
          <a:solidFill>
            <a:srgbClr val="F5F8FA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25A111-03A0-4554-A128-5C45D0FB737C}"/>
              </a:ext>
            </a:extLst>
          </p:cNvPr>
          <p:cNvSpPr>
            <a:spLocks noGrp="1"/>
          </p:cNvSpPr>
          <p:nvPr/>
        </p:nvSpPr>
        <p:spPr>
          <a:xfrm>
            <a:off x="8229600" y="2476500"/>
            <a:ext cx="3562350" cy="95250"/>
          </a:xfrm>
          <a:prstGeom prst="rect">
            <a:avLst/>
          </a:prstGeom>
          <a:solidFill>
            <a:srgbClr val="007C91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856C7-E627-4979-876C-27026E37C98E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952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19,5 %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BA8EAB-6867-4C0A-8227-25D627387C39}"/>
              </a:ext>
            </a:extLst>
          </p:cNvPr>
          <p:cNvSpPr>
            <a:spLocks noGrp="1"/>
          </p:cNvSpPr>
          <p:nvPr/>
        </p:nvSpPr>
        <p:spPr>
          <a:xfrm>
            <a:off x="8515350" y="3943350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consultations d’urgence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FC4F86-34F9-403A-B725-A9952FDA8C81}"/>
              </a:ext>
            </a:extLst>
          </p:cNvPr>
          <p:cNvSpPr>
            <a:spLocks noGrp="1"/>
          </p:cNvSpPr>
          <p:nvPr/>
        </p:nvSpPr>
        <p:spPr>
          <a:xfrm>
            <a:off x="8515350" y="4695825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Pression sur la prise en charge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C2412E-3B5A-42C6-86A9-72A8419229C5}"/>
              </a:ext>
            </a:extLst>
          </p:cNvPr>
          <p:cNvSpPr>
            <a:spLocks noGrp="1"/>
          </p:cNvSpPr>
          <p:nvPr/>
        </p:nvSpPr>
        <p:spPr>
          <a:xfrm>
            <a:off x="400050" y="592455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* Parmi les statuts d’assurance connus.</a:t>
            </a:r>
          </a:p>
        </p:txBody>
      </p:sp>
    </p:spTree>
    <p:extLst>
      <p:ext uri="{BB962C8B-B14F-4D97-AF65-F5344CB8AC3E}">
        <p14:creationId xmlns:p14="http://schemas.microsoft.com/office/powerpoint/2010/main" val="115430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A17686-B089-4419-BDFF-57E501971EB1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Le volume mensuel reste prévisible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07BD5A-D994-4727-86DC-C84A2BFC16D1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980360"/>
            <a:ext cx="6953250" cy="294490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E34BDD-600E-4DF7-8823-8E1A523BED5D}"/>
              </a:ext>
            </a:extLst>
          </p:cNvPr>
          <p:cNvSpPr>
            <a:spLocks noGrp="1"/>
          </p:cNvSpPr>
          <p:nvPr/>
        </p:nvSpPr>
        <p:spPr>
          <a:xfrm>
            <a:off x="7953375" y="165735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Une amplitude limitée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F4E52-1C9C-414F-A9C0-4DED0C512D41}"/>
              </a:ext>
            </a:extLst>
          </p:cNvPr>
          <p:cNvSpPr>
            <a:spLocks noGrp="1"/>
          </p:cNvSpPr>
          <p:nvPr/>
        </p:nvSpPr>
        <p:spPr>
          <a:xfrm>
            <a:off x="7953375" y="2152650"/>
            <a:ext cx="3238500" cy="1095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 778 à 873 consultations par mois, soit 95 consultations d’écart entre le minimum et le maximum.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429104-8EA9-4605-AACA-9D326BB353CE}"/>
              </a:ext>
            </a:extLst>
          </p:cNvPr>
          <p:cNvSpPr>
            <a:spLocks noGrp="1"/>
          </p:cNvSpPr>
          <p:nvPr/>
        </p:nvSpPr>
        <p:spPr>
          <a:xfrm>
            <a:off x="7953375" y="3714750"/>
            <a:ext cx="3238500" cy="9525"/>
          </a:xfrm>
          <a:prstGeom prst="rect">
            <a:avLst/>
          </a:prstGeom>
          <a:solidFill>
            <a:srgbClr val="D9E3E8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A45DE2-E837-4FAE-99CE-1113B8345815}"/>
              </a:ext>
            </a:extLst>
          </p:cNvPr>
          <p:cNvSpPr>
            <a:spLocks noGrp="1"/>
          </p:cNvSpPr>
          <p:nvPr/>
        </p:nvSpPr>
        <p:spPr>
          <a:xfrm>
            <a:off x="7953375" y="4010025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Implication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92E8AF-0D5E-44E7-8441-CBBD2F21583D}"/>
              </a:ext>
            </a:extLst>
          </p:cNvPr>
          <p:cNvSpPr>
            <a:spLocks noGrp="1"/>
          </p:cNvSpPr>
          <p:nvPr/>
        </p:nvSpPr>
        <p:spPr>
          <a:xfrm>
            <a:off x="7953375" y="4438650"/>
            <a:ext cx="3238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La stabilité facilite la planification des équipes et des approvisionnements. Le pilotage doit porter sur les ruptures et les urgences, pas uniquement sur le volume.</a:t>
            </a:r>
          </a:p>
        </p:txBody>
      </p:sp>
    </p:spTree>
    <p:extLst>
      <p:ext uri="{BB962C8B-B14F-4D97-AF65-F5344CB8AC3E}">
        <p14:creationId xmlns:p14="http://schemas.microsoft.com/office/powerpoint/2010/main" val="82465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B3C350-1E78-4E09-9043-8F8EFD7D7C7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Les ruptures se concentrent dans trois régions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1EB12-BEDD-4999-9A47-A4D5398999C2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08030"/>
            <a:ext cx="7239000" cy="3975315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45E521-D36E-49A9-B2EA-9DA32770E47E}"/>
              </a:ext>
            </a:extLst>
          </p:cNvPr>
          <p:cNvSpPr>
            <a:spLocks noGrp="1"/>
          </p:cNvSpPr>
          <p:nvPr/>
        </p:nvSpPr>
        <p:spPr>
          <a:xfrm>
            <a:off x="8001000" y="165735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E8F3F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E508A-0646-44AB-B069-BA631F438BF3}"/>
              </a:ext>
            </a:extLst>
          </p:cNvPr>
          <p:cNvSpPr>
            <a:spLocks noGrp="1"/>
          </p:cNvSpPr>
          <p:nvPr/>
        </p:nvSpPr>
        <p:spPr>
          <a:xfrm>
            <a:off x="8324850" y="2038350"/>
            <a:ext cx="266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3075" b="1">
                <a:solidFill>
                  <a:srgbClr val="E16B4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E16B4B"/>
                </a:solidFill>
                <a:latin typeface="Arial"/>
                <a:ea typeface="Arial"/>
                <a:cs typeface="Arial"/>
              </a:rPr>
              <a:t>20,1 %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69809-520B-47A6-9A12-99EB5E96EC0A}"/>
              </a:ext>
            </a:extLst>
          </p:cNvPr>
          <p:cNvSpPr>
            <a:spLocks noGrp="1"/>
          </p:cNvSpPr>
          <p:nvPr/>
        </p:nvSpPr>
        <p:spPr>
          <a:xfrm>
            <a:off x="8324850" y="2819400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Est — taux le plus élevé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AFE43A-74D9-4D86-8E43-47C0EDD9803B}"/>
              </a:ext>
            </a:extLst>
          </p:cNvPr>
          <p:cNvSpPr>
            <a:spLocks noGrp="1"/>
          </p:cNvSpPr>
          <p:nvPr/>
        </p:nvSpPr>
        <p:spPr>
          <a:xfrm>
            <a:off x="8324850" y="3371850"/>
            <a:ext cx="2667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Sud : 19,8 %</a:t>
            </a:r>
          </a:p>
          <a:p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Centre : 19,7 %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D7F3DD-8CA4-4632-88F1-9009F0570462}"/>
              </a:ext>
            </a:extLst>
          </p:cNvPr>
          <p:cNvSpPr>
            <a:spLocks noGrp="1"/>
          </p:cNvSpPr>
          <p:nvPr/>
        </p:nvSpPr>
        <p:spPr>
          <a:xfrm>
            <a:off x="8001000" y="45148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Décision proposée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2D3CA-87D3-4ACB-A503-5EB6D8D24353}"/>
              </a:ext>
            </a:extLst>
          </p:cNvPr>
          <p:cNvSpPr>
            <a:spLocks noGrp="1"/>
          </p:cNvSpPr>
          <p:nvPr/>
        </p:nvSpPr>
        <p:spPr>
          <a:xfrm>
            <a:off x="8001000" y="4953000"/>
            <a:ext cx="3333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Prioriser ces trois régions pour la revue des produits en rupture, des durées et des délais de réapprovisionnement.</a:t>
            </a:r>
          </a:p>
        </p:txBody>
      </p:sp>
    </p:spTree>
    <p:extLst>
      <p:ext uri="{BB962C8B-B14F-4D97-AF65-F5344CB8AC3E}">
        <p14:creationId xmlns:p14="http://schemas.microsoft.com/office/powerpoint/2010/main" val="106905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724DE20-6F2A-4C21-AA5E-31E2CEF0034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Trois pathologies structurent le besoin de prise en charge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F0A9FD-0702-49CE-907C-71EA67C515F1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86375" y="1900996"/>
            <a:ext cx="6334125" cy="32465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38533F-7AD8-4226-A547-0BA4DD81473B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4000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E16B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16B4B"/>
                </a:solidFill>
                <a:latin typeface="Arial"/>
                <a:ea typeface="Arial"/>
                <a:cs typeface="Arial"/>
              </a:rPr>
              <a:t>Anémie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FCA7A0-BFB8-43DA-B589-EF187A5DC8CE}"/>
              </a:ext>
            </a:extLst>
          </p:cNvPr>
          <p:cNvSpPr>
            <a:spLocks noGrp="1"/>
          </p:cNvSpPr>
          <p:nvPr/>
        </p:nvSpPr>
        <p:spPr>
          <a:xfrm>
            <a:off x="400050" y="2162175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1 121 consultations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527C64-BD6C-426C-9F0E-8EACD397FD1B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D7A4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7A431"/>
                </a:solidFill>
                <a:latin typeface="Arial"/>
                <a:ea typeface="Arial"/>
                <a:cs typeface="Arial"/>
              </a:rPr>
              <a:t>Malnutrition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E834CC-E382-4D13-80A9-57AEE53E20B7}"/>
              </a:ext>
            </a:extLst>
          </p:cNvPr>
          <p:cNvSpPr>
            <a:spLocks noGrp="1"/>
          </p:cNvSpPr>
          <p:nvPr/>
        </p:nvSpPr>
        <p:spPr>
          <a:xfrm>
            <a:off x="400050" y="33909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1 087 consultations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D75D99-5025-46ED-8DF7-9C15EF5564E1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438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Infections respiratoires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5D6AC4-A198-447F-8A9F-5F82292623A9}"/>
              </a:ext>
            </a:extLst>
          </p:cNvPr>
          <p:cNvSpPr>
            <a:spLocks noGrp="1"/>
          </p:cNvSpPr>
          <p:nvPr/>
        </p:nvSpPr>
        <p:spPr>
          <a:xfrm>
            <a:off x="400050" y="4543425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1 057 consultations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76D5E-2146-4683-A091-D0857658BE10}"/>
              </a:ext>
            </a:extLst>
          </p:cNvPr>
          <p:cNvSpPr>
            <a:spLocks noGrp="1"/>
          </p:cNvSpPr>
          <p:nvPr/>
        </p:nvSpPr>
        <p:spPr>
          <a:xfrm>
            <a:off x="400050" y="5391150"/>
            <a:ext cx="4286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À mettre sous revue : protocoles, intrants et prévention.</a:t>
            </a:r>
          </a:p>
        </p:txBody>
      </p:sp>
    </p:spTree>
    <p:extLst>
      <p:ext uri="{BB962C8B-B14F-4D97-AF65-F5344CB8AC3E}">
        <p14:creationId xmlns:p14="http://schemas.microsoft.com/office/powerpoint/2010/main" val="188810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45CD9E1-87AA-442A-A83F-882FC0D41D7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Le plan d’action tient en trois priorités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3DFB7E-A07C-4371-944B-8C3B085C8AD0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A0CCE3-12B9-4C7A-9F46-E32A992DBC67}"/>
              </a:ext>
            </a:extLst>
          </p:cNvPr>
          <p:cNvSpPr>
            <a:spLocks noGrp="1"/>
          </p:cNvSpPr>
          <p:nvPr/>
        </p:nvSpPr>
        <p:spPr>
          <a:xfrm>
            <a:off x="523875" y="1552575"/>
            <a:ext cx="85725" cy="600075"/>
          </a:xfrm>
          <a:prstGeom prst="rect">
            <a:avLst/>
          </a:prstGeom>
          <a:solidFill>
            <a:srgbClr val="E16B4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1506DC-7318-4D34-8429-BF1547C30F8B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1019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1. Sécuriser les médicaments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37D57F-7E95-4EF6-B035-C1B5D44EAC65}"/>
              </a:ext>
            </a:extLst>
          </p:cNvPr>
          <p:cNvSpPr>
            <a:spLocks noGrp="1"/>
          </p:cNvSpPr>
          <p:nvPr/>
        </p:nvSpPr>
        <p:spPr>
          <a:xfrm>
            <a:off x="800100" y="181927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Est, Sud et Centre : produits en rupture, durée et réapprovisionnement.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A0D702-1ECE-4A35-8DF1-2F01750634F6}"/>
              </a:ext>
            </a:extLst>
          </p:cNvPr>
          <p:cNvSpPr>
            <a:spLocks noGrp="1"/>
          </p:cNvSpPr>
          <p:nvPr/>
        </p:nvSpPr>
        <p:spPr>
          <a:xfrm>
            <a:off x="523875" y="2886075"/>
            <a:ext cx="85725" cy="600075"/>
          </a:xfrm>
          <a:prstGeom prst="rect">
            <a:avLst/>
          </a:prstGeom>
          <a:solidFill>
            <a:srgbClr val="D7A431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77BE8E-681D-4ACA-87FA-761B439B6E1C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019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2. Réduire la barrière financière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56832-4CCD-4079-8361-0FD41A5D9E26}"/>
              </a:ext>
            </a:extLst>
          </p:cNvPr>
          <p:cNvSpPr>
            <a:spLocks noGrp="1"/>
          </p:cNvSpPr>
          <p:nvPr/>
        </p:nvSpPr>
        <p:spPr>
          <a:xfrm>
            <a:off x="800100" y="315277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Segmenter les patients non assurés et évaluer les mécanismes d’orientation ou de prise en charge.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033D61-B42A-47E2-ADA0-95D89C7B88F8}"/>
              </a:ext>
            </a:extLst>
          </p:cNvPr>
          <p:cNvSpPr>
            <a:spLocks noGrp="1"/>
          </p:cNvSpPr>
          <p:nvPr/>
        </p:nvSpPr>
        <p:spPr>
          <a:xfrm>
            <a:off x="523875" y="4219575"/>
            <a:ext cx="85725" cy="600075"/>
          </a:xfrm>
          <a:prstGeom prst="rect">
            <a:avLst/>
          </a:prstGeom>
          <a:solidFill>
            <a:srgbClr val="007C9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6FD478-80A6-48A9-916A-463A766DD743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1019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3. Fiabiliser le pilotage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E16CFA-9D13-45B8-80DA-AEEA33B05D58}"/>
              </a:ext>
            </a:extLst>
          </p:cNvPr>
          <p:cNvSpPr>
            <a:spLocks noGrp="1"/>
          </p:cNvSpPr>
          <p:nvPr/>
        </p:nvSpPr>
        <p:spPr>
          <a:xfrm>
            <a:off x="800100" y="448627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Règles de saisie, revue qualité mensuelle et tableau de bord partagé avec les pilotes.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7E0AD3-6537-4820-BAC0-44055ACF7A9F}"/>
              </a:ext>
            </a:extLst>
          </p:cNvPr>
          <p:cNvSpPr>
            <a:spLocks noGrp="1"/>
          </p:cNvSpPr>
          <p:nvPr/>
        </p:nvSpPr>
        <p:spPr>
          <a:xfrm>
            <a:off x="523875" y="5514975"/>
            <a:ext cx="10810875" cy="9525"/>
          </a:xfrm>
          <a:prstGeom prst="rect">
            <a:avLst/>
          </a:prstGeom>
          <a:solidFill>
            <a:srgbClr val="D9E3E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40394-2BAA-44A7-BC44-38387119548A}"/>
              </a:ext>
            </a:extLst>
          </p:cNvPr>
          <p:cNvSpPr>
            <a:spLocks noGrp="1"/>
          </p:cNvSpPr>
          <p:nvPr/>
        </p:nvSpPr>
        <p:spPr>
          <a:xfrm>
            <a:off x="523875" y="5791200"/>
            <a:ext cx="1066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Pilotes proposés : Opérations / Pharmacie • Direction médicale / Partenariats • SI / Qualité</a:t>
            </a:r>
          </a:p>
        </p:txBody>
      </p:sp>
    </p:spTree>
    <p:extLst>
      <p:ext uri="{BB962C8B-B14F-4D97-AF65-F5344CB8AC3E}">
        <p14:creationId xmlns:p14="http://schemas.microsoft.com/office/powerpoint/2010/main" val="189464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B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A72446-906A-42F4-BC26-A6E0F2930C70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1066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décision attendue aujourd’hui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29C447-C3D3-462F-87B7-B86BF7B3A57A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CFE4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FE4E8"/>
                </a:solidFill>
                <a:latin typeface="Arial"/>
                <a:ea typeface="Arial"/>
                <a:cs typeface="Arial"/>
              </a:rPr>
              <a:t>Valider les priorités, les pilotes et une première revue à 90 jours.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AE543-B78C-4003-AF4A-5EDF00297624}"/>
              </a:ext>
            </a:extLst>
          </p:cNvPr>
          <p:cNvSpPr>
            <a:spLocks noGrp="1"/>
          </p:cNvSpPr>
          <p:nvPr/>
        </p:nvSpPr>
        <p:spPr>
          <a:xfrm>
            <a:off x="1466850" y="3209925"/>
            <a:ext cx="7810500" cy="28575"/>
          </a:xfrm>
          <a:prstGeom prst="rect">
            <a:avLst/>
          </a:prstGeom>
          <a:solidFill>
            <a:srgbClr val="6A8AA0"/>
          </a:solidFill>
          <a:ln w="0">
            <a:noFill/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61F4E4-0755-440A-917E-DB4B518EFF50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30480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F7C52F-CF1D-4CFD-B079-3609DCD8D4DC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0–30 J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C8BE0-4B0D-4553-992E-C200709C55E8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2514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Cadrer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C66E4-92C5-4EC8-88ED-F1EA6655610F}"/>
              </a:ext>
            </a:extLst>
          </p:cNvPr>
          <p:cNvSpPr>
            <a:spLocks noGrp="1"/>
          </p:cNvSpPr>
          <p:nvPr/>
        </p:nvSpPr>
        <p:spPr>
          <a:xfrm>
            <a:off x="1066800" y="3476625"/>
            <a:ext cx="2514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Priorités, responsables et définitions KPI validés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587693A-A74E-4A08-A485-AD87C7150049}"/>
              </a:ext>
            </a:extLst>
          </p:cNvPr>
          <p:cNvSpPr>
            <a:spLocks noGrp="1"/>
          </p:cNvSpPr>
          <p:nvPr/>
        </p:nvSpPr>
        <p:spPr>
          <a:xfrm>
            <a:off x="4591050" y="2143125"/>
            <a:ext cx="30480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FB314D-9148-4991-88D0-8B9A0B02197C}"/>
              </a:ext>
            </a:extLst>
          </p:cNvPr>
          <p:cNvSpPr>
            <a:spLocks noGrp="1"/>
          </p:cNvSpPr>
          <p:nvPr/>
        </p:nvSpPr>
        <p:spPr>
          <a:xfrm>
            <a:off x="4857750" y="2400300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31–60 J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D335F-BA40-4F67-A4D4-03EDF34F8FC7}"/>
              </a:ext>
            </a:extLst>
          </p:cNvPr>
          <p:cNvSpPr>
            <a:spLocks noGrp="1"/>
          </p:cNvSpPr>
          <p:nvPr/>
        </p:nvSpPr>
        <p:spPr>
          <a:xfrm>
            <a:off x="4857750" y="2857500"/>
            <a:ext cx="2514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Exécuter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7E257B-8983-44F1-B40A-73F6786C1919}"/>
              </a:ext>
            </a:extLst>
          </p:cNvPr>
          <p:cNvSpPr>
            <a:spLocks noGrp="1"/>
          </p:cNvSpPr>
          <p:nvPr/>
        </p:nvSpPr>
        <p:spPr>
          <a:xfrm>
            <a:off x="4857750" y="3476625"/>
            <a:ext cx="2514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Revues régionales et contrôles qualité lancés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BC09984-C3FF-4184-9CC2-71A364C703FA}"/>
              </a:ext>
            </a:extLst>
          </p:cNvPr>
          <p:cNvSpPr>
            <a:spLocks noGrp="1"/>
          </p:cNvSpPr>
          <p:nvPr/>
        </p:nvSpPr>
        <p:spPr>
          <a:xfrm>
            <a:off x="8382000" y="2143125"/>
            <a:ext cx="30480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CB9973-900F-4F63-9B65-C67E70722C49}"/>
              </a:ext>
            </a:extLst>
          </p:cNvPr>
          <p:cNvSpPr>
            <a:spLocks noGrp="1"/>
          </p:cNvSpPr>
          <p:nvPr/>
        </p:nvSpPr>
        <p:spPr>
          <a:xfrm>
            <a:off x="8648700" y="2400300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61–90 J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26B2A-30AE-4158-A4EA-A85BA11FF160}"/>
              </a:ext>
            </a:extLst>
          </p:cNvPr>
          <p:cNvSpPr>
            <a:spLocks noGrp="1"/>
          </p:cNvSpPr>
          <p:nvPr/>
        </p:nvSpPr>
        <p:spPr>
          <a:xfrm>
            <a:off x="8648700" y="2857500"/>
            <a:ext cx="2514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43B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B5D"/>
                </a:solidFill>
                <a:latin typeface="Arial"/>
                <a:ea typeface="Arial"/>
                <a:cs typeface="Arial"/>
              </a:rPr>
              <a:t>Arbitrer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86ABF4-F77E-4876-93C3-7CFA8087FCE0}"/>
              </a:ext>
            </a:extLst>
          </p:cNvPr>
          <p:cNvSpPr>
            <a:spLocks noGrp="1"/>
          </p:cNvSpPr>
          <p:nvPr/>
        </p:nvSpPr>
        <p:spPr>
          <a:xfrm>
            <a:off x="8648700" y="3476625"/>
            <a:ext cx="2514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Premier bilan, tendances et décisions correctives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385BD36-5FB4-44C5-8E22-ECE86901EB4C}"/>
              </a:ext>
            </a:extLst>
          </p:cNvPr>
          <p:cNvSpPr>
            <a:spLocks noGrp="1"/>
          </p:cNvSpPr>
          <p:nvPr/>
        </p:nvSpPr>
        <p:spPr>
          <a:xfrm>
            <a:off x="400050" y="5429250"/>
            <a:ext cx="11144250" cy="723900"/>
          </a:xfrm>
          <a:prstGeom prst="roundRect">
            <a:avLst>
              <a:gd name="adj" fmla="val 10526"/>
            </a:avLst>
          </a:prstGeom>
          <a:solidFill>
            <a:srgbClr val="007C91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4003E3-0A19-421F-9B10-F8AC05C7B023}"/>
              </a:ext>
            </a:extLst>
          </p:cNvPr>
          <p:cNvSpPr>
            <a:spLocks noGrp="1"/>
          </p:cNvSpPr>
          <p:nvPr/>
        </p:nvSpPr>
        <p:spPr>
          <a:xfrm>
            <a:off x="666750" y="5638800"/>
            <a:ext cx="1057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Prochaine étape : nommer les responsables et fixer la date de la revue de direction.</a:t>
            </a:r>
          </a:p>
        </p:txBody>
      </p:sp>
    </p:spTree>
    <p:extLst>
      <p:ext uri="{BB962C8B-B14F-4D97-AF65-F5344CB8AC3E}">
        <p14:creationId xmlns:p14="http://schemas.microsoft.com/office/powerpoint/2010/main" val="14190081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550</Words>
  <Application>Microsoft Office PowerPoint</Application>
  <DocSecurity>0</DocSecurity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Gorkus</cp:lastModifiedBy>
  <cp:revision>2</cp:revision>
  <dcterms:created xsi:type="dcterms:W3CDTF">2026-07-29T07:14:14Z</dcterms:created>
  <dcterms:modified xsi:type="dcterms:W3CDTF">2026-07-29T07:19:37Z</dcterms:modified>
</cp:coreProperties>
</file>